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5B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1" autoAdjust="0"/>
    <p:restoredTop sz="94660"/>
  </p:normalViewPr>
  <p:slideViewPr>
    <p:cSldViewPr snapToGrid="0">
      <p:cViewPr>
        <p:scale>
          <a:sx n="65" d="100"/>
          <a:sy n="65" d="100"/>
        </p:scale>
        <p:origin x="56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5FE81A-D81B-4497-8FB6-337C34926C80}" type="doc">
      <dgm:prSet loTypeId="urn:microsoft.com/office/officeart/2018/2/layout/IconVerticalSolidList" loCatId="icon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E34D40-FE7E-4C16-A5DC-E0774809EE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2000" dirty="0"/>
            <a:t>Bronze–Silver–Gold Architecture (Medallion Architecture)</a:t>
          </a:r>
          <a:endParaRPr lang="en-US" sz="2000" dirty="0"/>
        </a:p>
      </dgm:t>
    </dgm:pt>
    <dgm:pt modelId="{15760140-E1F9-4DAC-859D-641838A379CC}" type="parTrans" cxnId="{A17A7FCA-5748-45E2-90CA-155F38EA3C14}">
      <dgm:prSet/>
      <dgm:spPr/>
      <dgm:t>
        <a:bodyPr/>
        <a:lstStyle/>
        <a:p>
          <a:endParaRPr lang="en-US"/>
        </a:p>
      </dgm:t>
    </dgm:pt>
    <dgm:pt modelId="{11833DBE-99B5-4E12-A33D-47EA2302587A}" type="sibTrans" cxnId="{A17A7FCA-5748-45E2-90CA-155F38EA3C14}">
      <dgm:prSet/>
      <dgm:spPr/>
      <dgm:t>
        <a:bodyPr/>
        <a:lstStyle/>
        <a:p>
          <a:endParaRPr lang="en-US"/>
        </a:p>
      </dgm:t>
    </dgm:pt>
    <dgm:pt modelId="{F87F9B9C-C38D-468E-ADF3-1D43BCCDC0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800" b="1" dirty="0"/>
            <a:t>1. Purpose &amp; Objectives</a:t>
          </a:r>
          <a:endParaRPr lang="en-US" sz="1800" b="1" dirty="0"/>
        </a:p>
      </dgm:t>
    </dgm:pt>
    <dgm:pt modelId="{6663A1C6-5AC1-4786-9FC7-EDDD9A15937B}" type="parTrans" cxnId="{92D8417B-6051-465A-977B-C5BCE8CBBD0F}">
      <dgm:prSet/>
      <dgm:spPr/>
      <dgm:t>
        <a:bodyPr/>
        <a:lstStyle/>
        <a:p>
          <a:endParaRPr lang="en-US"/>
        </a:p>
      </dgm:t>
    </dgm:pt>
    <dgm:pt modelId="{9A2E0125-CCC0-4851-B48B-1A6210826FCC}" type="sibTrans" cxnId="{92D8417B-6051-465A-977B-C5BCE8CBBD0F}">
      <dgm:prSet/>
      <dgm:spPr/>
      <dgm:t>
        <a:bodyPr/>
        <a:lstStyle/>
        <a:p>
          <a:endParaRPr lang="en-US"/>
        </a:p>
      </dgm:t>
    </dgm:pt>
    <dgm:pt modelId="{E5BFC5D3-AAAC-4762-A2A4-34EF3764CA4B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The purpose of this solution is to design and implement a scalable SQL Server–based Data Warehouse using a Bronze, Silver, and Gold layered architecture that:</a:t>
          </a:r>
          <a:endParaRPr lang="en-US"/>
        </a:p>
      </dgm:t>
    </dgm:pt>
    <dgm:pt modelId="{7B76560A-B6D6-4FBE-AF16-27DF15225510}" type="parTrans" cxnId="{D2D6982D-9367-4E02-AB2C-D25BD3AD67F3}">
      <dgm:prSet/>
      <dgm:spPr/>
      <dgm:t>
        <a:bodyPr/>
        <a:lstStyle/>
        <a:p>
          <a:endParaRPr lang="en-US"/>
        </a:p>
      </dgm:t>
    </dgm:pt>
    <dgm:pt modelId="{D50D8100-58AF-45F6-8530-24FA2D7DCEC7}" type="sibTrans" cxnId="{D2D6982D-9367-4E02-AB2C-D25BD3AD67F3}">
      <dgm:prSet/>
      <dgm:spPr/>
      <dgm:t>
        <a:bodyPr/>
        <a:lstStyle/>
        <a:p>
          <a:endParaRPr lang="en-US"/>
        </a:p>
      </dgm:t>
    </dgm:pt>
    <dgm:pt modelId="{869DC9A9-A102-4412-8B57-6A17E101304D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Ingests raw data from multiple source systems (CRM, ERP, files)</a:t>
          </a:r>
          <a:endParaRPr lang="en-US"/>
        </a:p>
      </dgm:t>
    </dgm:pt>
    <dgm:pt modelId="{5A734645-87D9-4631-8661-82702104BEE3}" type="parTrans" cxnId="{246C3BC6-6663-4546-AD01-138231E2E51B}">
      <dgm:prSet/>
      <dgm:spPr/>
      <dgm:t>
        <a:bodyPr/>
        <a:lstStyle/>
        <a:p>
          <a:endParaRPr lang="en-US"/>
        </a:p>
      </dgm:t>
    </dgm:pt>
    <dgm:pt modelId="{A928428D-58B7-4C0C-86AB-BB8D45EF6C4D}" type="sibTrans" cxnId="{246C3BC6-6663-4546-AD01-138231E2E51B}">
      <dgm:prSet/>
      <dgm:spPr/>
      <dgm:t>
        <a:bodyPr/>
        <a:lstStyle/>
        <a:p>
          <a:endParaRPr lang="en-US"/>
        </a:p>
      </dgm:t>
    </dgm:pt>
    <dgm:pt modelId="{3850DE65-CA9B-4944-9C74-AD3D1D71499C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Cleanses and standardizes data for consistency and quality</a:t>
          </a:r>
          <a:endParaRPr lang="en-US"/>
        </a:p>
      </dgm:t>
    </dgm:pt>
    <dgm:pt modelId="{5BFD47F2-B363-4741-9F3E-A3EA1AD33D53}" type="parTrans" cxnId="{EC511A20-EE68-4346-8750-ADC8EDEE139C}">
      <dgm:prSet/>
      <dgm:spPr/>
      <dgm:t>
        <a:bodyPr/>
        <a:lstStyle/>
        <a:p>
          <a:endParaRPr lang="en-US"/>
        </a:p>
      </dgm:t>
    </dgm:pt>
    <dgm:pt modelId="{B964E87E-4461-4335-9263-8D6330C416E5}" type="sibTrans" cxnId="{EC511A20-EE68-4346-8750-ADC8EDEE139C}">
      <dgm:prSet/>
      <dgm:spPr/>
      <dgm:t>
        <a:bodyPr/>
        <a:lstStyle/>
        <a:p>
          <a:endParaRPr lang="en-US"/>
        </a:p>
      </dgm:t>
    </dgm:pt>
    <dgm:pt modelId="{BB682291-F2A9-4D37-8642-63BA17A98980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Delivers business-ready datasets for analytics, reporting, and machine learning</a:t>
          </a:r>
          <a:endParaRPr lang="en-US"/>
        </a:p>
      </dgm:t>
    </dgm:pt>
    <dgm:pt modelId="{BF2AD3BC-34BE-4A19-B4A7-AEBC4E6851CB}" type="parTrans" cxnId="{3AAB72DD-2418-420F-AD4E-1C2DE104906A}">
      <dgm:prSet/>
      <dgm:spPr/>
      <dgm:t>
        <a:bodyPr/>
        <a:lstStyle/>
        <a:p>
          <a:endParaRPr lang="en-US"/>
        </a:p>
      </dgm:t>
    </dgm:pt>
    <dgm:pt modelId="{64EA3269-4C5D-485F-B253-47696AC982FE}" type="sibTrans" cxnId="{3AAB72DD-2418-420F-AD4E-1C2DE104906A}">
      <dgm:prSet/>
      <dgm:spPr/>
      <dgm:t>
        <a:bodyPr/>
        <a:lstStyle/>
        <a:p>
          <a:endParaRPr lang="en-US"/>
        </a:p>
      </dgm:t>
    </dgm:pt>
    <dgm:pt modelId="{A8E96D20-BFD5-4EEA-A1F8-D81DD23DD83E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Separates concerns between ingestion, transformation, and consumption</a:t>
          </a:r>
          <a:endParaRPr lang="en-US"/>
        </a:p>
      </dgm:t>
    </dgm:pt>
    <dgm:pt modelId="{ACCA70A4-648F-486A-AF51-714BEB412703}" type="parTrans" cxnId="{F6EB504D-371A-4908-8CD7-AE02BE6C8434}">
      <dgm:prSet/>
      <dgm:spPr/>
      <dgm:t>
        <a:bodyPr/>
        <a:lstStyle/>
        <a:p>
          <a:endParaRPr lang="en-US"/>
        </a:p>
      </dgm:t>
    </dgm:pt>
    <dgm:pt modelId="{DD7DACDC-940F-4087-A39F-E2AC517E06F2}" type="sibTrans" cxnId="{F6EB504D-371A-4908-8CD7-AE02BE6C8434}">
      <dgm:prSet/>
      <dgm:spPr/>
      <dgm:t>
        <a:bodyPr/>
        <a:lstStyle/>
        <a:p>
          <a:endParaRPr lang="en-US"/>
        </a:p>
      </dgm:t>
    </dgm:pt>
    <dgm:pt modelId="{5AECFDAB-D47C-4062-9456-87060C5FB008}" type="pres">
      <dgm:prSet presAssocID="{765FE81A-D81B-4497-8FB6-337C34926C80}" presName="root" presStyleCnt="0">
        <dgm:presLayoutVars>
          <dgm:dir/>
          <dgm:resizeHandles val="exact"/>
        </dgm:presLayoutVars>
      </dgm:prSet>
      <dgm:spPr/>
    </dgm:pt>
    <dgm:pt modelId="{8391C3FF-7342-44C6-AA49-7892D0394AD4}" type="pres">
      <dgm:prSet presAssocID="{D3E34D40-FE7E-4C16-A5DC-E0774809EE09}" presName="compNode" presStyleCnt="0"/>
      <dgm:spPr/>
    </dgm:pt>
    <dgm:pt modelId="{4D7A186D-B9E5-4CDC-B6DA-23B61769A768}" type="pres">
      <dgm:prSet presAssocID="{D3E34D40-FE7E-4C16-A5DC-E0774809EE09}" presName="bgRect" presStyleLbl="bgShp" presStyleIdx="0" presStyleCnt="7" custLinFactY="-29815" custLinFactNeighborX="9500" custLinFactNeighborY="-100000"/>
      <dgm:spPr/>
    </dgm:pt>
    <dgm:pt modelId="{BC9FEC7F-8F3E-40D2-A99D-96D3B3B83DD1}" type="pres">
      <dgm:prSet presAssocID="{D3E34D40-FE7E-4C16-A5DC-E0774809EE0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reath"/>
        </a:ext>
      </dgm:extLst>
    </dgm:pt>
    <dgm:pt modelId="{BD618F11-2C8B-4BC2-8D38-4DEBF770B35A}" type="pres">
      <dgm:prSet presAssocID="{D3E34D40-FE7E-4C16-A5DC-E0774809EE09}" presName="spaceRect" presStyleCnt="0"/>
      <dgm:spPr/>
    </dgm:pt>
    <dgm:pt modelId="{8FB94766-3781-49C8-B977-335246A2877F}" type="pres">
      <dgm:prSet presAssocID="{D3E34D40-FE7E-4C16-A5DC-E0774809EE09}" presName="parTx" presStyleLbl="revTx" presStyleIdx="0" presStyleCnt="7" custScaleX="100000">
        <dgm:presLayoutVars>
          <dgm:chMax val="0"/>
          <dgm:chPref val="0"/>
        </dgm:presLayoutVars>
      </dgm:prSet>
      <dgm:spPr/>
    </dgm:pt>
    <dgm:pt modelId="{CF6554EC-F3B0-41D8-8604-5BD41F2F07E1}" type="pres">
      <dgm:prSet presAssocID="{11833DBE-99B5-4E12-A33D-47EA2302587A}" presName="sibTrans" presStyleCnt="0"/>
      <dgm:spPr/>
    </dgm:pt>
    <dgm:pt modelId="{05D99B0E-7823-44A5-94AB-9D6A29D99F18}" type="pres">
      <dgm:prSet presAssocID="{F87F9B9C-C38D-468E-ADF3-1D43BCCDC07E}" presName="compNode" presStyleCnt="0"/>
      <dgm:spPr/>
    </dgm:pt>
    <dgm:pt modelId="{2B5E6E2B-AA3F-4758-86DE-3369AC436EE9}" type="pres">
      <dgm:prSet presAssocID="{F87F9B9C-C38D-468E-ADF3-1D43BCCDC07E}" presName="bgRect" presStyleLbl="bgShp" presStyleIdx="1" presStyleCnt="7"/>
      <dgm:spPr/>
    </dgm:pt>
    <dgm:pt modelId="{70D8BF84-FED7-402A-A8ED-0FDB29A771A7}" type="pres">
      <dgm:prSet presAssocID="{F87F9B9C-C38D-468E-ADF3-1D43BCCDC07E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D9314DC-05B6-436F-97D9-9404E96C74AD}" type="pres">
      <dgm:prSet presAssocID="{F87F9B9C-C38D-468E-ADF3-1D43BCCDC07E}" presName="spaceRect" presStyleCnt="0"/>
      <dgm:spPr/>
    </dgm:pt>
    <dgm:pt modelId="{44D1D436-4D5A-4D3E-858A-5D826D987D0C}" type="pres">
      <dgm:prSet presAssocID="{F87F9B9C-C38D-468E-ADF3-1D43BCCDC07E}" presName="parTx" presStyleLbl="revTx" presStyleIdx="1" presStyleCnt="7">
        <dgm:presLayoutVars>
          <dgm:chMax val="0"/>
          <dgm:chPref val="0"/>
        </dgm:presLayoutVars>
      </dgm:prSet>
      <dgm:spPr/>
    </dgm:pt>
    <dgm:pt modelId="{BF41C92A-273D-455E-93AC-EFF707BB71E4}" type="pres">
      <dgm:prSet presAssocID="{9A2E0125-CCC0-4851-B48B-1A6210826FCC}" presName="sibTrans" presStyleCnt="0"/>
      <dgm:spPr/>
    </dgm:pt>
    <dgm:pt modelId="{8C4F4E25-97E3-4A2B-A705-6D6DC5541AA8}" type="pres">
      <dgm:prSet presAssocID="{E5BFC5D3-AAAC-4762-A2A4-34EF3764CA4B}" presName="compNode" presStyleCnt="0"/>
      <dgm:spPr/>
    </dgm:pt>
    <dgm:pt modelId="{122EE1CF-3510-485B-BBD2-FC2EC67E1696}" type="pres">
      <dgm:prSet presAssocID="{E5BFC5D3-AAAC-4762-A2A4-34EF3764CA4B}" presName="bgRect" presStyleLbl="bgShp" presStyleIdx="2" presStyleCnt="7"/>
      <dgm:spPr/>
    </dgm:pt>
    <dgm:pt modelId="{B2DD3833-831B-45DF-9D55-694945D66362}" type="pres">
      <dgm:prSet presAssocID="{E5BFC5D3-AAAC-4762-A2A4-34EF3764CA4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704473-5731-42C2-8304-FC0C9ECBA7FA}" type="pres">
      <dgm:prSet presAssocID="{E5BFC5D3-AAAC-4762-A2A4-34EF3764CA4B}" presName="spaceRect" presStyleCnt="0"/>
      <dgm:spPr/>
    </dgm:pt>
    <dgm:pt modelId="{8CF9EC30-D129-4DC1-8BD3-927FA3E37B57}" type="pres">
      <dgm:prSet presAssocID="{E5BFC5D3-AAAC-4762-A2A4-34EF3764CA4B}" presName="parTx" presStyleLbl="revTx" presStyleIdx="2" presStyleCnt="7">
        <dgm:presLayoutVars>
          <dgm:chMax val="0"/>
          <dgm:chPref val="0"/>
        </dgm:presLayoutVars>
      </dgm:prSet>
      <dgm:spPr/>
    </dgm:pt>
    <dgm:pt modelId="{D2548B57-3156-4392-83E1-CFBE8A8C0732}" type="pres">
      <dgm:prSet presAssocID="{D50D8100-58AF-45F6-8530-24FA2D7DCEC7}" presName="sibTrans" presStyleCnt="0"/>
      <dgm:spPr/>
    </dgm:pt>
    <dgm:pt modelId="{47DBAAAD-C311-4124-8062-FD6BE976DE10}" type="pres">
      <dgm:prSet presAssocID="{869DC9A9-A102-4412-8B57-6A17E101304D}" presName="compNode" presStyleCnt="0"/>
      <dgm:spPr/>
    </dgm:pt>
    <dgm:pt modelId="{A0B7575C-C0F4-47CA-A431-074FF844318B}" type="pres">
      <dgm:prSet presAssocID="{869DC9A9-A102-4412-8B57-6A17E101304D}" presName="bgRect" presStyleLbl="bgShp" presStyleIdx="3" presStyleCnt="7"/>
      <dgm:spPr/>
    </dgm:pt>
    <dgm:pt modelId="{14EC478F-430D-4BF9-BF97-E601E4DA92AC}" type="pres">
      <dgm:prSet presAssocID="{869DC9A9-A102-4412-8B57-6A17E101304D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E19DDE2-DC80-417B-B9D7-863927DC2C5B}" type="pres">
      <dgm:prSet presAssocID="{869DC9A9-A102-4412-8B57-6A17E101304D}" presName="spaceRect" presStyleCnt="0"/>
      <dgm:spPr/>
    </dgm:pt>
    <dgm:pt modelId="{6FE024A8-9E1C-4BB4-83AE-8D7C0FA2C1EB}" type="pres">
      <dgm:prSet presAssocID="{869DC9A9-A102-4412-8B57-6A17E101304D}" presName="parTx" presStyleLbl="revTx" presStyleIdx="3" presStyleCnt="7">
        <dgm:presLayoutVars>
          <dgm:chMax val="0"/>
          <dgm:chPref val="0"/>
        </dgm:presLayoutVars>
      </dgm:prSet>
      <dgm:spPr/>
    </dgm:pt>
    <dgm:pt modelId="{AE31B5E7-C9AB-467B-B1A5-243E6CB4C634}" type="pres">
      <dgm:prSet presAssocID="{A928428D-58B7-4C0C-86AB-BB8D45EF6C4D}" presName="sibTrans" presStyleCnt="0"/>
      <dgm:spPr/>
    </dgm:pt>
    <dgm:pt modelId="{46834E06-3C62-430C-92AB-E72632A9AB30}" type="pres">
      <dgm:prSet presAssocID="{3850DE65-CA9B-4944-9C74-AD3D1D71499C}" presName="compNode" presStyleCnt="0"/>
      <dgm:spPr/>
    </dgm:pt>
    <dgm:pt modelId="{76687BD4-D5BF-4C53-897A-977C4547BFEB}" type="pres">
      <dgm:prSet presAssocID="{3850DE65-CA9B-4944-9C74-AD3D1D71499C}" presName="bgRect" presStyleLbl="bgShp" presStyleIdx="4" presStyleCnt="7"/>
      <dgm:spPr/>
    </dgm:pt>
    <dgm:pt modelId="{F4923A4C-1379-46C3-A577-4A5AE29490CC}" type="pres">
      <dgm:prSet presAssocID="{3850DE65-CA9B-4944-9C74-AD3D1D71499C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99458B-673B-4C8C-B71B-7BCA11343EBA}" type="pres">
      <dgm:prSet presAssocID="{3850DE65-CA9B-4944-9C74-AD3D1D71499C}" presName="spaceRect" presStyleCnt="0"/>
      <dgm:spPr/>
    </dgm:pt>
    <dgm:pt modelId="{2E8E6EE7-E4F5-4042-8526-ABFEE4E801AA}" type="pres">
      <dgm:prSet presAssocID="{3850DE65-CA9B-4944-9C74-AD3D1D71499C}" presName="parTx" presStyleLbl="revTx" presStyleIdx="4" presStyleCnt="7">
        <dgm:presLayoutVars>
          <dgm:chMax val="0"/>
          <dgm:chPref val="0"/>
        </dgm:presLayoutVars>
      </dgm:prSet>
      <dgm:spPr/>
    </dgm:pt>
    <dgm:pt modelId="{D65F7C94-29EB-4C0E-AB99-584D74B7C15F}" type="pres">
      <dgm:prSet presAssocID="{B964E87E-4461-4335-9263-8D6330C416E5}" presName="sibTrans" presStyleCnt="0"/>
      <dgm:spPr/>
    </dgm:pt>
    <dgm:pt modelId="{789C02F2-053D-4415-852E-8638A60085D3}" type="pres">
      <dgm:prSet presAssocID="{BB682291-F2A9-4D37-8642-63BA17A98980}" presName="compNode" presStyleCnt="0"/>
      <dgm:spPr/>
    </dgm:pt>
    <dgm:pt modelId="{28D84A0D-0959-47A6-8862-EE6E48962647}" type="pres">
      <dgm:prSet presAssocID="{BB682291-F2A9-4D37-8642-63BA17A98980}" presName="bgRect" presStyleLbl="bgShp" presStyleIdx="5" presStyleCnt="7"/>
      <dgm:spPr/>
    </dgm:pt>
    <dgm:pt modelId="{89B82588-7D21-4C91-9914-22888E56AF49}" type="pres">
      <dgm:prSet presAssocID="{BB682291-F2A9-4D37-8642-63BA17A98980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67BCD98-EECD-4770-9009-0E76B248414B}" type="pres">
      <dgm:prSet presAssocID="{BB682291-F2A9-4D37-8642-63BA17A98980}" presName="spaceRect" presStyleCnt="0"/>
      <dgm:spPr/>
    </dgm:pt>
    <dgm:pt modelId="{CC8C3B20-ABB2-4086-ACE2-7ABA15CFFD17}" type="pres">
      <dgm:prSet presAssocID="{BB682291-F2A9-4D37-8642-63BA17A98980}" presName="parTx" presStyleLbl="revTx" presStyleIdx="5" presStyleCnt="7">
        <dgm:presLayoutVars>
          <dgm:chMax val="0"/>
          <dgm:chPref val="0"/>
        </dgm:presLayoutVars>
      </dgm:prSet>
      <dgm:spPr/>
    </dgm:pt>
    <dgm:pt modelId="{5BA5E112-1FB1-4C07-94D4-7C30CECB5863}" type="pres">
      <dgm:prSet presAssocID="{64EA3269-4C5D-485F-B253-47696AC982FE}" presName="sibTrans" presStyleCnt="0"/>
      <dgm:spPr/>
    </dgm:pt>
    <dgm:pt modelId="{AA5215C7-A737-4654-8D75-D9611D8A2E5D}" type="pres">
      <dgm:prSet presAssocID="{A8E96D20-BFD5-4EEA-A1F8-D81DD23DD83E}" presName="compNode" presStyleCnt="0"/>
      <dgm:spPr/>
    </dgm:pt>
    <dgm:pt modelId="{CBEF6056-5BDD-4C7E-8288-37964A9F9279}" type="pres">
      <dgm:prSet presAssocID="{A8E96D20-BFD5-4EEA-A1F8-D81DD23DD83E}" presName="bgRect" presStyleLbl="bgShp" presStyleIdx="6" presStyleCnt="7"/>
      <dgm:spPr/>
    </dgm:pt>
    <dgm:pt modelId="{69C53339-A445-4EE7-950D-5B3545BD5AAE}" type="pres">
      <dgm:prSet presAssocID="{A8E96D20-BFD5-4EEA-A1F8-D81DD23DD83E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6C7A97B-E10D-40BA-A8A6-1DDD01591F9F}" type="pres">
      <dgm:prSet presAssocID="{A8E96D20-BFD5-4EEA-A1F8-D81DD23DD83E}" presName="spaceRect" presStyleCnt="0"/>
      <dgm:spPr/>
    </dgm:pt>
    <dgm:pt modelId="{F0F14643-EAEB-4CFD-8288-2A9C296D28E5}" type="pres">
      <dgm:prSet presAssocID="{A8E96D20-BFD5-4EEA-A1F8-D81DD23DD83E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81F1B410-8165-4096-AF9F-0521F04DE66E}" type="presOf" srcId="{765FE81A-D81B-4497-8FB6-337C34926C80}" destId="{5AECFDAB-D47C-4062-9456-87060C5FB008}" srcOrd="0" destOrd="0" presId="urn:microsoft.com/office/officeart/2018/2/layout/IconVerticalSolidList"/>
    <dgm:cxn modelId="{95F5B41A-384B-4A58-96D4-5AC872C8F19B}" type="presOf" srcId="{3850DE65-CA9B-4944-9C74-AD3D1D71499C}" destId="{2E8E6EE7-E4F5-4042-8526-ABFEE4E801AA}" srcOrd="0" destOrd="0" presId="urn:microsoft.com/office/officeart/2018/2/layout/IconVerticalSolidList"/>
    <dgm:cxn modelId="{EC511A20-EE68-4346-8750-ADC8EDEE139C}" srcId="{765FE81A-D81B-4497-8FB6-337C34926C80}" destId="{3850DE65-CA9B-4944-9C74-AD3D1D71499C}" srcOrd="4" destOrd="0" parTransId="{5BFD47F2-B363-4741-9F3E-A3EA1AD33D53}" sibTransId="{B964E87E-4461-4335-9263-8D6330C416E5}"/>
    <dgm:cxn modelId="{D2D6982D-9367-4E02-AB2C-D25BD3AD67F3}" srcId="{765FE81A-D81B-4497-8FB6-337C34926C80}" destId="{E5BFC5D3-AAAC-4762-A2A4-34EF3764CA4B}" srcOrd="2" destOrd="0" parTransId="{7B76560A-B6D6-4FBE-AF16-27DF15225510}" sibTransId="{D50D8100-58AF-45F6-8530-24FA2D7DCEC7}"/>
    <dgm:cxn modelId="{7331005B-8160-416E-A3CD-D1B6AB39BAD8}" type="presOf" srcId="{A8E96D20-BFD5-4EEA-A1F8-D81DD23DD83E}" destId="{F0F14643-EAEB-4CFD-8288-2A9C296D28E5}" srcOrd="0" destOrd="0" presId="urn:microsoft.com/office/officeart/2018/2/layout/IconVerticalSolidList"/>
    <dgm:cxn modelId="{ED6A0468-19DA-4C06-A082-3476ED44E87B}" type="presOf" srcId="{D3E34D40-FE7E-4C16-A5DC-E0774809EE09}" destId="{8FB94766-3781-49C8-B977-335246A2877F}" srcOrd="0" destOrd="0" presId="urn:microsoft.com/office/officeart/2018/2/layout/IconVerticalSolidList"/>
    <dgm:cxn modelId="{F6EB504D-371A-4908-8CD7-AE02BE6C8434}" srcId="{765FE81A-D81B-4497-8FB6-337C34926C80}" destId="{A8E96D20-BFD5-4EEA-A1F8-D81DD23DD83E}" srcOrd="6" destOrd="0" parTransId="{ACCA70A4-648F-486A-AF51-714BEB412703}" sibTransId="{DD7DACDC-940F-4087-A39F-E2AC517E06F2}"/>
    <dgm:cxn modelId="{92D8417B-6051-465A-977B-C5BCE8CBBD0F}" srcId="{765FE81A-D81B-4497-8FB6-337C34926C80}" destId="{F87F9B9C-C38D-468E-ADF3-1D43BCCDC07E}" srcOrd="1" destOrd="0" parTransId="{6663A1C6-5AC1-4786-9FC7-EDDD9A15937B}" sibTransId="{9A2E0125-CCC0-4851-B48B-1A6210826FCC}"/>
    <dgm:cxn modelId="{7E90ACA8-55DA-4BE4-85AE-E2CE29F77932}" type="presOf" srcId="{F87F9B9C-C38D-468E-ADF3-1D43BCCDC07E}" destId="{44D1D436-4D5A-4D3E-858A-5D826D987D0C}" srcOrd="0" destOrd="0" presId="urn:microsoft.com/office/officeart/2018/2/layout/IconVerticalSolidList"/>
    <dgm:cxn modelId="{F34EBCA8-3A74-4579-A3E0-C75C6E374E1B}" type="presOf" srcId="{BB682291-F2A9-4D37-8642-63BA17A98980}" destId="{CC8C3B20-ABB2-4086-ACE2-7ABA15CFFD17}" srcOrd="0" destOrd="0" presId="urn:microsoft.com/office/officeart/2018/2/layout/IconVerticalSolidList"/>
    <dgm:cxn modelId="{C4EBF3B6-D460-47EF-9E88-AE3863DD7FDE}" type="presOf" srcId="{E5BFC5D3-AAAC-4762-A2A4-34EF3764CA4B}" destId="{8CF9EC30-D129-4DC1-8BD3-927FA3E37B57}" srcOrd="0" destOrd="0" presId="urn:microsoft.com/office/officeart/2018/2/layout/IconVerticalSolidList"/>
    <dgm:cxn modelId="{246C3BC6-6663-4546-AD01-138231E2E51B}" srcId="{765FE81A-D81B-4497-8FB6-337C34926C80}" destId="{869DC9A9-A102-4412-8B57-6A17E101304D}" srcOrd="3" destOrd="0" parTransId="{5A734645-87D9-4631-8661-82702104BEE3}" sibTransId="{A928428D-58B7-4C0C-86AB-BB8D45EF6C4D}"/>
    <dgm:cxn modelId="{A17A7FCA-5748-45E2-90CA-155F38EA3C14}" srcId="{765FE81A-D81B-4497-8FB6-337C34926C80}" destId="{D3E34D40-FE7E-4C16-A5DC-E0774809EE09}" srcOrd="0" destOrd="0" parTransId="{15760140-E1F9-4DAC-859D-641838A379CC}" sibTransId="{11833DBE-99B5-4E12-A33D-47EA2302587A}"/>
    <dgm:cxn modelId="{3AAB72DD-2418-420F-AD4E-1C2DE104906A}" srcId="{765FE81A-D81B-4497-8FB6-337C34926C80}" destId="{BB682291-F2A9-4D37-8642-63BA17A98980}" srcOrd="5" destOrd="0" parTransId="{BF2AD3BC-34BE-4A19-B4A7-AEBC4E6851CB}" sibTransId="{64EA3269-4C5D-485F-B253-47696AC982FE}"/>
    <dgm:cxn modelId="{093189F7-EBF5-43C1-ADB4-3B5C11F79D7D}" type="presOf" srcId="{869DC9A9-A102-4412-8B57-6A17E101304D}" destId="{6FE024A8-9E1C-4BB4-83AE-8D7C0FA2C1EB}" srcOrd="0" destOrd="0" presId="urn:microsoft.com/office/officeart/2018/2/layout/IconVerticalSolidList"/>
    <dgm:cxn modelId="{331BD4D6-2517-4486-9717-2B338CA223A5}" type="presParOf" srcId="{5AECFDAB-D47C-4062-9456-87060C5FB008}" destId="{8391C3FF-7342-44C6-AA49-7892D0394AD4}" srcOrd="0" destOrd="0" presId="urn:microsoft.com/office/officeart/2018/2/layout/IconVerticalSolidList"/>
    <dgm:cxn modelId="{347CD03F-121B-4A2F-B761-EC9C81F5E1B4}" type="presParOf" srcId="{8391C3FF-7342-44C6-AA49-7892D0394AD4}" destId="{4D7A186D-B9E5-4CDC-B6DA-23B61769A768}" srcOrd="0" destOrd="0" presId="urn:microsoft.com/office/officeart/2018/2/layout/IconVerticalSolidList"/>
    <dgm:cxn modelId="{4742FC38-FA0E-435A-BE8F-F37B2A9C6D4B}" type="presParOf" srcId="{8391C3FF-7342-44C6-AA49-7892D0394AD4}" destId="{BC9FEC7F-8F3E-40D2-A99D-96D3B3B83DD1}" srcOrd="1" destOrd="0" presId="urn:microsoft.com/office/officeart/2018/2/layout/IconVerticalSolidList"/>
    <dgm:cxn modelId="{73323C33-A11A-4529-A722-9897B471C517}" type="presParOf" srcId="{8391C3FF-7342-44C6-AA49-7892D0394AD4}" destId="{BD618F11-2C8B-4BC2-8D38-4DEBF770B35A}" srcOrd="2" destOrd="0" presId="urn:microsoft.com/office/officeart/2018/2/layout/IconVerticalSolidList"/>
    <dgm:cxn modelId="{52207090-E46E-40D0-8CA4-24767F682335}" type="presParOf" srcId="{8391C3FF-7342-44C6-AA49-7892D0394AD4}" destId="{8FB94766-3781-49C8-B977-335246A2877F}" srcOrd="3" destOrd="0" presId="urn:microsoft.com/office/officeart/2018/2/layout/IconVerticalSolidList"/>
    <dgm:cxn modelId="{1120607D-5B7B-4696-9E17-7BA12624219A}" type="presParOf" srcId="{5AECFDAB-D47C-4062-9456-87060C5FB008}" destId="{CF6554EC-F3B0-41D8-8604-5BD41F2F07E1}" srcOrd="1" destOrd="0" presId="urn:microsoft.com/office/officeart/2018/2/layout/IconVerticalSolidList"/>
    <dgm:cxn modelId="{02284F17-4375-4B13-A609-31A3BC48E81E}" type="presParOf" srcId="{5AECFDAB-D47C-4062-9456-87060C5FB008}" destId="{05D99B0E-7823-44A5-94AB-9D6A29D99F18}" srcOrd="2" destOrd="0" presId="urn:microsoft.com/office/officeart/2018/2/layout/IconVerticalSolidList"/>
    <dgm:cxn modelId="{510E488A-FD62-4F05-872F-9077A1009D81}" type="presParOf" srcId="{05D99B0E-7823-44A5-94AB-9D6A29D99F18}" destId="{2B5E6E2B-AA3F-4758-86DE-3369AC436EE9}" srcOrd="0" destOrd="0" presId="urn:microsoft.com/office/officeart/2018/2/layout/IconVerticalSolidList"/>
    <dgm:cxn modelId="{7993E67A-97F4-4E95-BB61-67C1478743A4}" type="presParOf" srcId="{05D99B0E-7823-44A5-94AB-9D6A29D99F18}" destId="{70D8BF84-FED7-402A-A8ED-0FDB29A771A7}" srcOrd="1" destOrd="0" presId="urn:microsoft.com/office/officeart/2018/2/layout/IconVerticalSolidList"/>
    <dgm:cxn modelId="{9E34E945-C6D7-4235-96A5-E377171B6CEA}" type="presParOf" srcId="{05D99B0E-7823-44A5-94AB-9D6A29D99F18}" destId="{3D9314DC-05B6-436F-97D9-9404E96C74AD}" srcOrd="2" destOrd="0" presId="urn:microsoft.com/office/officeart/2018/2/layout/IconVerticalSolidList"/>
    <dgm:cxn modelId="{F4134D86-7760-42AB-86EB-98BA073F3322}" type="presParOf" srcId="{05D99B0E-7823-44A5-94AB-9D6A29D99F18}" destId="{44D1D436-4D5A-4D3E-858A-5D826D987D0C}" srcOrd="3" destOrd="0" presId="urn:microsoft.com/office/officeart/2018/2/layout/IconVerticalSolidList"/>
    <dgm:cxn modelId="{5FFDB503-8A4B-4B17-A07F-3567243B257E}" type="presParOf" srcId="{5AECFDAB-D47C-4062-9456-87060C5FB008}" destId="{BF41C92A-273D-455E-93AC-EFF707BB71E4}" srcOrd="3" destOrd="0" presId="urn:microsoft.com/office/officeart/2018/2/layout/IconVerticalSolidList"/>
    <dgm:cxn modelId="{EB7B8BDE-085B-44C5-8772-E3AF09FE668A}" type="presParOf" srcId="{5AECFDAB-D47C-4062-9456-87060C5FB008}" destId="{8C4F4E25-97E3-4A2B-A705-6D6DC5541AA8}" srcOrd="4" destOrd="0" presId="urn:microsoft.com/office/officeart/2018/2/layout/IconVerticalSolidList"/>
    <dgm:cxn modelId="{F00B11AF-6D26-4F0A-B23D-4F9FE2601506}" type="presParOf" srcId="{8C4F4E25-97E3-4A2B-A705-6D6DC5541AA8}" destId="{122EE1CF-3510-485B-BBD2-FC2EC67E1696}" srcOrd="0" destOrd="0" presId="urn:microsoft.com/office/officeart/2018/2/layout/IconVerticalSolidList"/>
    <dgm:cxn modelId="{E3F2641C-B497-4BAF-9CBC-38915F9D40EC}" type="presParOf" srcId="{8C4F4E25-97E3-4A2B-A705-6D6DC5541AA8}" destId="{B2DD3833-831B-45DF-9D55-694945D66362}" srcOrd="1" destOrd="0" presId="urn:microsoft.com/office/officeart/2018/2/layout/IconVerticalSolidList"/>
    <dgm:cxn modelId="{2E72C4A9-35D8-4FBC-ABB7-B590219DB3A9}" type="presParOf" srcId="{8C4F4E25-97E3-4A2B-A705-6D6DC5541AA8}" destId="{AC704473-5731-42C2-8304-FC0C9ECBA7FA}" srcOrd="2" destOrd="0" presId="urn:microsoft.com/office/officeart/2018/2/layout/IconVerticalSolidList"/>
    <dgm:cxn modelId="{D681F173-C856-4A6E-8106-4E69A2456C5C}" type="presParOf" srcId="{8C4F4E25-97E3-4A2B-A705-6D6DC5541AA8}" destId="{8CF9EC30-D129-4DC1-8BD3-927FA3E37B57}" srcOrd="3" destOrd="0" presId="urn:microsoft.com/office/officeart/2018/2/layout/IconVerticalSolidList"/>
    <dgm:cxn modelId="{10BAC81E-84D9-4550-A3B9-3DDA9E3554E3}" type="presParOf" srcId="{5AECFDAB-D47C-4062-9456-87060C5FB008}" destId="{D2548B57-3156-4392-83E1-CFBE8A8C0732}" srcOrd="5" destOrd="0" presId="urn:microsoft.com/office/officeart/2018/2/layout/IconVerticalSolidList"/>
    <dgm:cxn modelId="{8C8C4779-DF0A-4A6E-92DA-F08DF0EE4B33}" type="presParOf" srcId="{5AECFDAB-D47C-4062-9456-87060C5FB008}" destId="{47DBAAAD-C311-4124-8062-FD6BE976DE10}" srcOrd="6" destOrd="0" presId="urn:microsoft.com/office/officeart/2018/2/layout/IconVerticalSolidList"/>
    <dgm:cxn modelId="{02BABE14-0ADE-482A-9ADA-D5CC4405EC52}" type="presParOf" srcId="{47DBAAAD-C311-4124-8062-FD6BE976DE10}" destId="{A0B7575C-C0F4-47CA-A431-074FF844318B}" srcOrd="0" destOrd="0" presId="urn:microsoft.com/office/officeart/2018/2/layout/IconVerticalSolidList"/>
    <dgm:cxn modelId="{2954A125-6D1E-4154-9764-16D227577A8A}" type="presParOf" srcId="{47DBAAAD-C311-4124-8062-FD6BE976DE10}" destId="{14EC478F-430D-4BF9-BF97-E601E4DA92AC}" srcOrd="1" destOrd="0" presId="urn:microsoft.com/office/officeart/2018/2/layout/IconVerticalSolidList"/>
    <dgm:cxn modelId="{B7921BA9-7AAB-4929-BC4F-231851A9CB05}" type="presParOf" srcId="{47DBAAAD-C311-4124-8062-FD6BE976DE10}" destId="{9E19DDE2-DC80-417B-B9D7-863927DC2C5B}" srcOrd="2" destOrd="0" presId="urn:microsoft.com/office/officeart/2018/2/layout/IconVerticalSolidList"/>
    <dgm:cxn modelId="{ADBE4F86-994A-4410-9CA7-23667D55409C}" type="presParOf" srcId="{47DBAAAD-C311-4124-8062-FD6BE976DE10}" destId="{6FE024A8-9E1C-4BB4-83AE-8D7C0FA2C1EB}" srcOrd="3" destOrd="0" presId="urn:microsoft.com/office/officeart/2018/2/layout/IconVerticalSolidList"/>
    <dgm:cxn modelId="{0364174F-BDB7-49FA-8739-9B0C983127A2}" type="presParOf" srcId="{5AECFDAB-D47C-4062-9456-87060C5FB008}" destId="{AE31B5E7-C9AB-467B-B1A5-243E6CB4C634}" srcOrd="7" destOrd="0" presId="urn:microsoft.com/office/officeart/2018/2/layout/IconVerticalSolidList"/>
    <dgm:cxn modelId="{83925C4F-3C75-47AF-8CAE-65BA7275536B}" type="presParOf" srcId="{5AECFDAB-D47C-4062-9456-87060C5FB008}" destId="{46834E06-3C62-430C-92AB-E72632A9AB30}" srcOrd="8" destOrd="0" presId="urn:microsoft.com/office/officeart/2018/2/layout/IconVerticalSolidList"/>
    <dgm:cxn modelId="{B71AEB2D-3B0B-4454-892A-16F410DB59E5}" type="presParOf" srcId="{46834E06-3C62-430C-92AB-E72632A9AB30}" destId="{76687BD4-D5BF-4C53-897A-977C4547BFEB}" srcOrd="0" destOrd="0" presId="urn:microsoft.com/office/officeart/2018/2/layout/IconVerticalSolidList"/>
    <dgm:cxn modelId="{67DAA9E2-C2F1-4B53-B0D7-CFB7E66EE746}" type="presParOf" srcId="{46834E06-3C62-430C-92AB-E72632A9AB30}" destId="{F4923A4C-1379-46C3-A577-4A5AE29490CC}" srcOrd="1" destOrd="0" presId="urn:microsoft.com/office/officeart/2018/2/layout/IconVerticalSolidList"/>
    <dgm:cxn modelId="{488D4A4A-72D2-4A2F-AD87-9A62394B0F1E}" type="presParOf" srcId="{46834E06-3C62-430C-92AB-E72632A9AB30}" destId="{BE99458B-673B-4C8C-B71B-7BCA11343EBA}" srcOrd="2" destOrd="0" presId="urn:microsoft.com/office/officeart/2018/2/layout/IconVerticalSolidList"/>
    <dgm:cxn modelId="{1417A0D6-4A73-4814-829D-FC6C3488658B}" type="presParOf" srcId="{46834E06-3C62-430C-92AB-E72632A9AB30}" destId="{2E8E6EE7-E4F5-4042-8526-ABFEE4E801AA}" srcOrd="3" destOrd="0" presId="urn:microsoft.com/office/officeart/2018/2/layout/IconVerticalSolidList"/>
    <dgm:cxn modelId="{F7EAB52F-2DAC-4A2E-94A6-6D14DFEE480E}" type="presParOf" srcId="{5AECFDAB-D47C-4062-9456-87060C5FB008}" destId="{D65F7C94-29EB-4C0E-AB99-584D74B7C15F}" srcOrd="9" destOrd="0" presId="urn:microsoft.com/office/officeart/2018/2/layout/IconVerticalSolidList"/>
    <dgm:cxn modelId="{0C123CF9-C1FC-4BBF-B849-F3ED63220570}" type="presParOf" srcId="{5AECFDAB-D47C-4062-9456-87060C5FB008}" destId="{789C02F2-053D-4415-852E-8638A60085D3}" srcOrd="10" destOrd="0" presId="urn:microsoft.com/office/officeart/2018/2/layout/IconVerticalSolidList"/>
    <dgm:cxn modelId="{23E55365-6B1D-41F1-85AD-123A5ED89519}" type="presParOf" srcId="{789C02F2-053D-4415-852E-8638A60085D3}" destId="{28D84A0D-0959-47A6-8862-EE6E48962647}" srcOrd="0" destOrd="0" presId="urn:microsoft.com/office/officeart/2018/2/layout/IconVerticalSolidList"/>
    <dgm:cxn modelId="{21E89414-62EF-4B63-A996-8A3BF9E53B76}" type="presParOf" srcId="{789C02F2-053D-4415-852E-8638A60085D3}" destId="{89B82588-7D21-4C91-9914-22888E56AF49}" srcOrd="1" destOrd="0" presId="urn:microsoft.com/office/officeart/2018/2/layout/IconVerticalSolidList"/>
    <dgm:cxn modelId="{96165455-BC62-4F0E-A6A0-A2205724C6D0}" type="presParOf" srcId="{789C02F2-053D-4415-852E-8638A60085D3}" destId="{567BCD98-EECD-4770-9009-0E76B248414B}" srcOrd="2" destOrd="0" presId="urn:microsoft.com/office/officeart/2018/2/layout/IconVerticalSolidList"/>
    <dgm:cxn modelId="{1E806046-88BF-4F8F-8E31-4DAE0AC876C2}" type="presParOf" srcId="{789C02F2-053D-4415-852E-8638A60085D3}" destId="{CC8C3B20-ABB2-4086-ACE2-7ABA15CFFD17}" srcOrd="3" destOrd="0" presId="urn:microsoft.com/office/officeart/2018/2/layout/IconVerticalSolidList"/>
    <dgm:cxn modelId="{4D1E93BA-A07C-4BF1-B433-017344481D19}" type="presParOf" srcId="{5AECFDAB-D47C-4062-9456-87060C5FB008}" destId="{5BA5E112-1FB1-4C07-94D4-7C30CECB5863}" srcOrd="11" destOrd="0" presId="urn:microsoft.com/office/officeart/2018/2/layout/IconVerticalSolidList"/>
    <dgm:cxn modelId="{046159F6-DA7F-4925-9083-51D39621D433}" type="presParOf" srcId="{5AECFDAB-D47C-4062-9456-87060C5FB008}" destId="{AA5215C7-A737-4654-8D75-D9611D8A2E5D}" srcOrd="12" destOrd="0" presId="urn:microsoft.com/office/officeart/2018/2/layout/IconVerticalSolidList"/>
    <dgm:cxn modelId="{66FBA20C-E340-460A-A884-45BB9BB8202C}" type="presParOf" srcId="{AA5215C7-A737-4654-8D75-D9611D8A2E5D}" destId="{CBEF6056-5BDD-4C7E-8288-37964A9F9279}" srcOrd="0" destOrd="0" presId="urn:microsoft.com/office/officeart/2018/2/layout/IconVerticalSolidList"/>
    <dgm:cxn modelId="{01CF1CD7-A9B8-485C-B922-2646821513B6}" type="presParOf" srcId="{AA5215C7-A737-4654-8D75-D9611D8A2E5D}" destId="{69C53339-A445-4EE7-950D-5B3545BD5AAE}" srcOrd="1" destOrd="0" presId="urn:microsoft.com/office/officeart/2018/2/layout/IconVerticalSolidList"/>
    <dgm:cxn modelId="{281E0D7A-CD05-4EC6-B23C-6328C995E6FA}" type="presParOf" srcId="{AA5215C7-A737-4654-8D75-D9611D8A2E5D}" destId="{66C7A97B-E10D-40BA-A8A6-1DDD01591F9F}" srcOrd="2" destOrd="0" presId="urn:microsoft.com/office/officeart/2018/2/layout/IconVerticalSolidList"/>
    <dgm:cxn modelId="{1B4483C3-1D33-4C2F-A63C-49F31A75A9AC}" type="presParOf" srcId="{AA5215C7-A737-4654-8D75-D9611D8A2E5D}" destId="{F0F14643-EAEB-4CFD-8288-2A9C296D28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7A186D-B9E5-4CDC-B6DA-23B61769A768}">
      <dsp:nvSpPr>
        <dsp:cNvPr id="0" name=""/>
        <dsp:cNvSpPr/>
      </dsp:nvSpPr>
      <dsp:spPr>
        <a:xfrm>
          <a:off x="0" y="0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BC9FEC7F-8F3E-40D2-A99D-96D3B3B83DD1}">
      <dsp:nvSpPr>
        <dsp:cNvPr id="0" name=""/>
        <dsp:cNvSpPr/>
      </dsp:nvSpPr>
      <dsp:spPr>
        <a:xfrm>
          <a:off x="151367" y="115182"/>
          <a:ext cx="275482" cy="2752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94766-3781-49C8-B977-335246A2877F}">
      <dsp:nvSpPr>
        <dsp:cNvPr id="0" name=""/>
        <dsp:cNvSpPr/>
      </dsp:nvSpPr>
      <dsp:spPr>
        <a:xfrm>
          <a:off x="578216" y="2595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kern="1200" dirty="0"/>
            <a:t>Bronze–Silver–Gold Architecture (Medallion Architecture)</a:t>
          </a:r>
          <a:endParaRPr lang="en-US" sz="2000" kern="1200" dirty="0"/>
        </a:p>
      </dsp:txBody>
      <dsp:txXfrm>
        <a:off x="578216" y="2595"/>
        <a:ext cx="10663672" cy="531661"/>
      </dsp:txXfrm>
    </dsp:sp>
    <dsp:sp modelId="{2B5E6E2B-AA3F-4758-86DE-3369AC436EE9}">
      <dsp:nvSpPr>
        <dsp:cNvPr id="0" name=""/>
        <dsp:cNvSpPr/>
      </dsp:nvSpPr>
      <dsp:spPr>
        <a:xfrm>
          <a:off x="0" y="667172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0D8BF84-FED7-402A-A8ED-0FDB29A771A7}">
      <dsp:nvSpPr>
        <dsp:cNvPr id="0" name=""/>
        <dsp:cNvSpPr/>
      </dsp:nvSpPr>
      <dsp:spPr>
        <a:xfrm>
          <a:off x="151367" y="779759"/>
          <a:ext cx="275482" cy="2752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4D1D436-4D5A-4D3E-858A-5D826D987D0C}">
      <dsp:nvSpPr>
        <dsp:cNvPr id="0" name=""/>
        <dsp:cNvSpPr/>
      </dsp:nvSpPr>
      <dsp:spPr>
        <a:xfrm>
          <a:off x="578216" y="667172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1. Purpose &amp; Objectives</a:t>
          </a:r>
          <a:endParaRPr lang="en-US" sz="1800" b="1" kern="1200" dirty="0"/>
        </a:p>
      </dsp:txBody>
      <dsp:txXfrm>
        <a:off x="578216" y="667172"/>
        <a:ext cx="10663672" cy="531661"/>
      </dsp:txXfrm>
    </dsp:sp>
    <dsp:sp modelId="{122EE1CF-3510-485B-BBD2-FC2EC67E1696}">
      <dsp:nvSpPr>
        <dsp:cNvPr id="0" name=""/>
        <dsp:cNvSpPr/>
      </dsp:nvSpPr>
      <dsp:spPr>
        <a:xfrm>
          <a:off x="0" y="1331749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B2DD3833-831B-45DF-9D55-694945D66362}">
      <dsp:nvSpPr>
        <dsp:cNvPr id="0" name=""/>
        <dsp:cNvSpPr/>
      </dsp:nvSpPr>
      <dsp:spPr>
        <a:xfrm>
          <a:off x="151367" y="1444336"/>
          <a:ext cx="275482" cy="2752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CF9EC30-D129-4DC1-8BD3-927FA3E37B57}">
      <dsp:nvSpPr>
        <dsp:cNvPr id="0" name=""/>
        <dsp:cNvSpPr/>
      </dsp:nvSpPr>
      <dsp:spPr>
        <a:xfrm>
          <a:off x="578216" y="1331749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The purpose of this solution is to design and implement a scalable SQL Server–based Data Warehouse using a Bronze, Silver, and Gold layered architecture that:</a:t>
          </a:r>
          <a:endParaRPr lang="en-US" sz="1400" kern="1200"/>
        </a:p>
      </dsp:txBody>
      <dsp:txXfrm>
        <a:off x="578216" y="1331749"/>
        <a:ext cx="10663672" cy="531661"/>
      </dsp:txXfrm>
    </dsp:sp>
    <dsp:sp modelId="{A0B7575C-C0F4-47CA-A431-074FF844318B}">
      <dsp:nvSpPr>
        <dsp:cNvPr id="0" name=""/>
        <dsp:cNvSpPr/>
      </dsp:nvSpPr>
      <dsp:spPr>
        <a:xfrm>
          <a:off x="0" y="1996326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4EC478F-430D-4BF9-BF97-E601E4DA92AC}">
      <dsp:nvSpPr>
        <dsp:cNvPr id="0" name=""/>
        <dsp:cNvSpPr/>
      </dsp:nvSpPr>
      <dsp:spPr>
        <a:xfrm>
          <a:off x="151367" y="2108913"/>
          <a:ext cx="275482" cy="2752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E024A8-9E1C-4BB4-83AE-8D7C0FA2C1EB}">
      <dsp:nvSpPr>
        <dsp:cNvPr id="0" name=""/>
        <dsp:cNvSpPr/>
      </dsp:nvSpPr>
      <dsp:spPr>
        <a:xfrm>
          <a:off x="578216" y="1996326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Ingests raw data from multiple source systems (CRM, ERP, files)</a:t>
          </a:r>
          <a:endParaRPr lang="en-US" sz="1400" kern="1200"/>
        </a:p>
      </dsp:txBody>
      <dsp:txXfrm>
        <a:off x="578216" y="1996326"/>
        <a:ext cx="10663672" cy="531661"/>
      </dsp:txXfrm>
    </dsp:sp>
    <dsp:sp modelId="{76687BD4-D5BF-4C53-897A-977C4547BFEB}">
      <dsp:nvSpPr>
        <dsp:cNvPr id="0" name=""/>
        <dsp:cNvSpPr/>
      </dsp:nvSpPr>
      <dsp:spPr>
        <a:xfrm>
          <a:off x="0" y="2660903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F4923A4C-1379-46C3-A577-4A5AE29490CC}">
      <dsp:nvSpPr>
        <dsp:cNvPr id="0" name=""/>
        <dsp:cNvSpPr/>
      </dsp:nvSpPr>
      <dsp:spPr>
        <a:xfrm>
          <a:off x="151367" y="2773490"/>
          <a:ext cx="275482" cy="2752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8E6EE7-E4F5-4042-8526-ABFEE4E801AA}">
      <dsp:nvSpPr>
        <dsp:cNvPr id="0" name=""/>
        <dsp:cNvSpPr/>
      </dsp:nvSpPr>
      <dsp:spPr>
        <a:xfrm>
          <a:off x="578216" y="2660903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Cleanses and standardizes data for consistency and quality</a:t>
          </a:r>
          <a:endParaRPr lang="en-US" sz="1400" kern="1200"/>
        </a:p>
      </dsp:txBody>
      <dsp:txXfrm>
        <a:off x="578216" y="2660903"/>
        <a:ext cx="10663672" cy="531661"/>
      </dsp:txXfrm>
    </dsp:sp>
    <dsp:sp modelId="{28D84A0D-0959-47A6-8862-EE6E48962647}">
      <dsp:nvSpPr>
        <dsp:cNvPr id="0" name=""/>
        <dsp:cNvSpPr/>
      </dsp:nvSpPr>
      <dsp:spPr>
        <a:xfrm>
          <a:off x="0" y="3325480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9B82588-7D21-4C91-9914-22888E56AF49}">
      <dsp:nvSpPr>
        <dsp:cNvPr id="0" name=""/>
        <dsp:cNvSpPr/>
      </dsp:nvSpPr>
      <dsp:spPr>
        <a:xfrm>
          <a:off x="151367" y="3438068"/>
          <a:ext cx="275482" cy="27521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8C3B20-ABB2-4086-ACE2-7ABA15CFFD17}">
      <dsp:nvSpPr>
        <dsp:cNvPr id="0" name=""/>
        <dsp:cNvSpPr/>
      </dsp:nvSpPr>
      <dsp:spPr>
        <a:xfrm>
          <a:off x="578216" y="3325480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Delivers business-ready datasets for analytics, reporting, and machine learning</a:t>
          </a:r>
          <a:endParaRPr lang="en-US" sz="1400" kern="1200"/>
        </a:p>
      </dsp:txBody>
      <dsp:txXfrm>
        <a:off x="578216" y="3325480"/>
        <a:ext cx="10663672" cy="531661"/>
      </dsp:txXfrm>
    </dsp:sp>
    <dsp:sp modelId="{CBEF6056-5BDD-4C7E-8288-37964A9F9279}">
      <dsp:nvSpPr>
        <dsp:cNvPr id="0" name=""/>
        <dsp:cNvSpPr/>
      </dsp:nvSpPr>
      <dsp:spPr>
        <a:xfrm>
          <a:off x="0" y="3990057"/>
          <a:ext cx="11259403" cy="50038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9C53339-A445-4EE7-950D-5B3545BD5AAE}">
      <dsp:nvSpPr>
        <dsp:cNvPr id="0" name=""/>
        <dsp:cNvSpPr/>
      </dsp:nvSpPr>
      <dsp:spPr>
        <a:xfrm>
          <a:off x="151367" y="4102645"/>
          <a:ext cx="275482" cy="27521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F14643-EAEB-4CFD-8288-2A9C296D28E5}">
      <dsp:nvSpPr>
        <dsp:cNvPr id="0" name=""/>
        <dsp:cNvSpPr/>
      </dsp:nvSpPr>
      <dsp:spPr>
        <a:xfrm>
          <a:off x="578216" y="3990057"/>
          <a:ext cx="10663672" cy="531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68" tIns="56268" rIns="56268" bIns="562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Separates concerns between ingestion, transformation, and consumption</a:t>
          </a:r>
          <a:endParaRPr lang="en-US" sz="1400" kern="1200"/>
        </a:p>
      </dsp:txBody>
      <dsp:txXfrm>
        <a:off x="578216" y="3990057"/>
        <a:ext cx="10663672" cy="531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0A57-88E6-AA46-5280-D442B1CEA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224931-9FFA-59C9-42EC-044E56D33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94DDB-53D5-DD11-2A7E-C2B5CA0E5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8C500-CC2A-16BE-634C-4C5C7DB8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7E6A2-642E-CEC4-7072-638B1EB9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896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1D7F-FCE1-5084-5449-FCD764A8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9DFA-1420-125A-1B28-5F661424C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1C07E-C501-679F-5FCD-858C919F4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F963-E8A8-F0A6-74B3-963F7971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470BD-5D4E-9DB9-61A7-8D57493F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846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5FD1-ABDF-FDA7-DD3B-1B829D25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A7E396-A7A4-D067-32C4-D29F3557E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9F7A6-E4D0-33F6-7D54-F4A0C7B17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802CD-FD9E-CDBA-2FB5-1214585D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EB46-7350-F46F-95F0-F5AD2E88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5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C94F-ADDD-1CD7-95B1-8DFC2015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3FF7F-06AF-1C36-C0BE-0376E8BFF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2D8A4-3B1A-CFAF-EEBA-B44349D3C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DCE8F-7095-4C95-2AB9-53E12082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193F7-E439-29CD-1DB2-8A26D34F2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DEA34-260E-C32C-2215-53548C554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138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1984-1E2F-67C0-258A-7EFC1FCF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2DEB-6CF6-AF2B-68FD-76A29DFC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94FA4-3762-2D94-D190-930286F06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183DD3-58D9-4442-FC4F-CB495951A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143A1-89DD-3906-3E94-BEA5CAA6D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AC2B6-A518-2169-A4AF-8A5387BF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0F9BFA-AED0-2A38-912D-2F26006E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75F60-7C69-9D39-353B-FBBAE22AF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036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A630-A502-3E65-850A-916FD8497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418E6-E191-8A68-3037-8647DE99F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B8881-1B75-99C8-DC96-228356C1C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4EAE3-D4DE-A30B-A422-7033DD51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2179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64C7E-21A3-B8D4-1AFB-3A72DCAF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A899C-3732-55E4-4106-A6EECAC6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41963-11EC-3E02-0B40-0FFB06F8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18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7C2B-0C66-FB39-D329-04D3745F5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42EA-4A07-7B78-84D9-C389CA54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7386F-2137-1DE0-4FDA-C298382FF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BCF7D-046E-7943-F376-B1312F91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97943-0EEB-547E-2DEC-70EDE2AB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15786-4FAF-C428-E04B-1F13C7C2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161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A8F4-A8E7-256E-95BB-C0FC949C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C0F14-EEDC-5439-49C7-ED1245B5F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BBC50-71F4-7FC3-1F91-592909CAC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B3F69-5C0D-1058-EC0A-FE5F64E98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841DB-59E8-7CED-7D0D-53D90494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FD5C6-09F5-94BA-05E1-D1D95AAD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307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C558-2EB6-1B83-EE28-EBE0D8F9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13DF2-DE16-367C-C892-68039BC7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D725-81A3-E8E7-EFBD-0B92CCAC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F2356-E8AB-AD5F-856A-9CE61876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A384-04EC-8A9F-43E6-AD420AB5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0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5F948-9861-96F8-ED20-16ACCF78F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63519-1232-60BD-A5DE-53D6B9A4F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8DB74-5928-CCDB-EC0D-561C88E18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F3B5-0406-4BC0-476F-40A089755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38FBD-5CDA-7CF8-D9E8-B45928B5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918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020FD-DF63-E3D2-7649-E9339B91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64E20-7483-D232-221B-49B9739DD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7500A-ACE5-DFC1-2D7D-D12C30FC2E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5EBBEF-0F24-49BE-8102-0D97F2F89726}" type="datetimeFigureOut">
              <a:rPr lang="en-CA" smtClean="0"/>
              <a:t>2026-01-02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A7030-8D0B-8631-5CAC-027AB25FB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A8F3F-7775-7B71-8D86-E107BBA37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2BD49-F3CE-49A7-BDE4-E1395C9086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74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extBox 28">
            <a:extLst>
              <a:ext uri="{FF2B5EF4-FFF2-40B4-BE49-F238E27FC236}">
                <a16:creationId xmlns:a16="http://schemas.microsoft.com/office/drawing/2014/main" id="{583D2C03-40AD-AF6B-6D87-CC6C727888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7586852"/>
              </p:ext>
            </p:extLst>
          </p:nvPr>
        </p:nvGraphicFramePr>
        <p:xfrm>
          <a:off x="404819" y="1166842"/>
          <a:ext cx="11259403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95372C26-0B85-C536-B6E2-B2852BBB5216}"/>
              </a:ext>
            </a:extLst>
          </p:cNvPr>
          <p:cNvSpPr txBox="1"/>
          <p:nvPr/>
        </p:nvSpPr>
        <p:spPr>
          <a:xfrm>
            <a:off x="291095" y="133556"/>
            <a:ext cx="6094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CA" sz="2800" b="1" dirty="0">
                <a:solidFill>
                  <a:schemeClr val="bg1"/>
                </a:solidFill>
              </a:rPr>
              <a:t>Data Warehouse Solution Document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766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5287C-C4CB-49BE-F1C9-5369D162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C9310B6-4B5D-6781-570D-68C9F4857515}"/>
              </a:ext>
            </a:extLst>
          </p:cNvPr>
          <p:cNvSpPr/>
          <p:nvPr/>
        </p:nvSpPr>
        <p:spPr>
          <a:xfrm>
            <a:off x="2535732" y="795753"/>
            <a:ext cx="6038987" cy="336814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Technology : SQL Server</a:t>
            </a:r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  <a:p>
            <a:pPr algn="ctr"/>
            <a:endParaRPr lang="en-CA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6E1BD0-439E-9918-F4DA-365D5C59053D}"/>
              </a:ext>
            </a:extLst>
          </p:cNvPr>
          <p:cNvSpPr/>
          <p:nvPr/>
        </p:nvSpPr>
        <p:spPr>
          <a:xfrm>
            <a:off x="297033" y="795754"/>
            <a:ext cx="2045888" cy="33681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CA" sz="2000" b="1" dirty="0"/>
              <a:t>Source Files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CRM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ERP Systems</a:t>
            </a:r>
          </a:p>
          <a:p>
            <a:endParaRPr lang="en-CA" dirty="0"/>
          </a:p>
          <a:p>
            <a:r>
              <a:rPr lang="en-CA" dirty="0"/>
              <a:t>Flat Files (CSV)</a:t>
            </a:r>
          </a:p>
          <a:p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880F8-3B6B-DED7-95C1-4C1F475238C2}"/>
              </a:ext>
            </a:extLst>
          </p:cNvPr>
          <p:cNvSpPr txBox="1"/>
          <p:nvPr/>
        </p:nvSpPr>
        <p:spPr>
          <a:xfrm>
            <a:off x="185840" y="272533"/>
            <a:ext cx="60949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2. High-Level Architecture Overview</a:t>
            </a:r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86DFA7EE-0FAB-E345-6359-663557576574}"/>
              </a:ext>
            </a:extLst>
          </p:cNvPr>
          <p:cNvSpPr/>
          <p:nvPr/>
        </p:nvSpPr>
        <p:spPr>
          <a:xfrm>
            <a:off x="2816256" y="1739513"/>
            <a:ext cx="1409189" cy="1480630"/>
          </a:xfrm>
          <a:prstGeom prst="flowChartMagneticDisk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Bronze</a:t>
            </a:r>
          </a:p>
        </p:txBody>
      </p:sp>
      <p:sp>
        <p:nvSpPr>
          <p:cNvPr id="14" name="Flowchart: Magnetic Disk 13">
            <a:extLst>
              <a:ext uri="{FF2B5EF4-FFF2-40B4-BE49-F238E27FC236}">
                <a16:creationId xmlns:a16="http://schemas.microsoft.com/office/drawing/2014/main" id="{50DFE16A-F1B0-16AF-FC16-1EEDA594553E}"/>
              </a:ext>
            </a:extLst>
          </p:cNvPr>
          <p:cNvSpPr/>
          <p:nvPr/>
        </p:nvSpPr>
        <p:spPr>
          <a:xfrm>
            <a:off x="4698780" y="1739513"/>
            <a:ext cx="1409189" cy="1480630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Silver</a:t>
            </a:r>
          </a:p>
        </p:txBody>
      </p: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D79D6C05-686D-2B1B-D2AB-D1C5608DBC39}"/>
              </a:ext>
            </a:extLst>
          </p:cNvPr>
          <p:cNvSpPr/>
          <p:nvPr/>
        </p:nvSpPr>
        <p:spPr>
          <a:xfrm>
            <a:off x="6581304" y="1739513"/>
            <a:ext cx="1409189" cy="1480630"/>
          </a:xfrm>
          <a:prstGeom prst="flowChartMagneticDisk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Gold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123028-1FB7-DF68-5E33-FAE2650FE401}"/>
              </a:ext>
            </a:extLst>
          </p:cNvPr>
          <p:cNvCxnSpPr>
            <a:cxnSpLocks/>
            <a:stCxn id="21" idx="3"/>
            <a:endCxn id="12" idx="2"/>
          </p:cNvCxnSpPr>
          <p:nvPr/>
        </p:nvCxnSpPr>
        <p:spPr>
          <a:xfrm>
            <a:off x="2342921" y="2479828"/>
            <a:ext cx="473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42A74E-B84D-8612-852B-1595BC79FCE1}"/>
              </a:ext>
            </a:extLst>
          </p:cNvPr>
          <p:cNvCxnSpPr>
            <a:cxnSpLocks/>
            <a:stCxn id="12" idx="4"/>
            <a:endCxn id="14" idx="2"/>
          </p:cNvCxnSpPr>
          <p:nvPr/>
        </p:nvCxnSpPr>
        <p:spPr>
          <a:xfrm>
            <a:off x="4225445" y="2479828"/>
            <a:ext cx="473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C0BEFB-5247-9F2A-2E94-E9AA639E401A}"/>
              </a:ext>
            </a:extLst>
          </p:cNvPr>
          <p:cNvCxnSpPr>
            <a:cxnSpLocks/>
            <a:stCxn id="14" idx="4"/>
            <a:endCxn id="16" idx="2"/>
          </p:cNvCxnSpPr>
          <p:nvPr/>
        </p:nvCxnSpPr>
        <p:spPr>
          <a:xfrm>
            <a:off x="6107969" y="2479828"/>
            <a:ext cx="473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D69DDAA-FB05-1AA8-8945-1B08F4C7ECF6}"/>
              </a:ext>
            </a:extLst>
          </p:cNvPr>
          <p:cNvSpPr/>
          <p:nvPr/>
        </p:nvSpPr>
        <p:spPr>
          <a:xfrm>
            <a:off x="8712868" y="795753"/>
            <a:ext cx="2447170" cy="336814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r>
              <a:rPr lang="en-CA" sz="2000" b="1" dirty="0"/>
              <a:t>Consumption Layer</a:t>
            </a:r>
          </a:p>
          <a:p>
            <a:endParaRPr lang="en-CA" dirty="0"/>
          </a:p>
          <a:p>
            <a:r>
              <a:rPr lang="en-CA" dirty="0"/>
              <a:t>Power BI</a:t>
            </a:r>
          </a:p>
          <a:p>
            <a:r>
              <a:rPr lang="en-CA" dirty="0"/>
              <a:t>Machine Learning</a:t>
            </a:r>
          </a:p>
          <a:p>
            <a:r>
              <a:rPr lang="en-CA" dirty="0"/>
              <a:t>Ad-hoc Queries</a:t>
            </a:r>
            <a:br>
              <a:rPr lang="en-CA" dirty="0"/>
            </a:br>
            <a:endParaRPr lang="en-CA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09A3AC-675D-F8A1-11BB-D9E477109E33}"/>
              </a:ext>
            </a:extLst>
          </p:cNvPr>
          <p:cNvCxnSpPr>
            <a:cxnSpLocks/>
            <a:stCxn id="16" idx="4"/>
            <a:endCxn id="31" idx="1"/>
          </p:cNvCxnSpPr>
          <p:nvPr/>
        </p:nvCxnSpPr>
        <p:spPr>
          <a:xfrm>
            <a:off x="7990493" y="2479828"/>
            <a:ext cx="722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6886D1E-2487-5809-C98B-CB7CF026D9EC}"/>
              </a:ext>
            </a:extLst>
          </p:cNvPr>
          <p:cNvSpPr txBox="1"/>
          <p:nvPr/>
        </p:nvSpPr>
        <p:spPr>
          <a:xfrm>
            <a:off x="284022" y="4456333"/>
            <a:ext cx="49369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3. Source Systems</a:t>
            </a:r>
          </a:p>
          <a:p>
            <a:r>
              <a:rPr lang="en-CA" b="1" dirty="0">
                <a:solidFill>
                  <a:schemeClr val="bg1"/>
                </a:solidFill>
              </a:rPr>
              <a:t>3.1 Source Types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CRM Systems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ERP Systems</a:t>
            </a:r>
          </a:p>
          <a:p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	 </a:t>
            </a:r>
            <a:r>
              <a:rPr lang="en-CA" dirty="0">
                <a:solidFill>
                  <a:schemeClr val="bg1"/>
                </a:solidFill>
              </a:rPr>
              <a:t>Flat Files (CSV)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2C0F51-19E5-CA03-3F17-56057DD68FA1}"/>
              </a:ext>
            </a:extLst>
          </p:cNvPr>
          <p:cNvSpPr txBox="1"/>
          <p:nvPr/>
        </p:nvSpPr>
        <p:spPr>
          <a:xfrm>
            <a:off x="3840453" y="42562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3.2 Source Characteristics</a:t>
            </a:r>
          </a:p>
          <a:p>
            <a:r>
              <a:rPr lang="en-US" dirty="0">
                <a:solidFill>
                  <a:schemeClr val="bg1"/>
                </a:solidFill>
              </a:rPr>
              <a:t>Attribute	Description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Object Type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CSV Files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Interface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Files stored in folders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Data Nature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Operational, raw, schema may change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Update Pattern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</a:rPr>
              <a:t>Batch-based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026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8A6B8-15C3-3980-E223-BD8C71C86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ECE75B-B579-68FC-FB37-0A5FC747A51F}"/>
              </a:ext>
            </a:extLst>
          </p:cNvPr>
          <p:cNvSpPr txBox="1"/>
          <p:nvPr/>
        </p:nvSpPr>
        <p:spPr>
          <a:xfrm>
            <a:off x="343468" y="535900"/>
            <a:ext cx="11505063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4. Bronze Layer – Raw Data Ingestion</a:t>
            </a:r>
          </a:p>
          <a:p>
            <a:r>
              <a:rPr lang="en-CA" b="1" dirty="0">
                <a:solidFill>
                  <a:schemeClr val="bg1"/>
                </a:solidFill>
              </a:rPr>
              <a:t>4.1 Purpose</a:t>
            </a:r>
          </a:p>
          <a:p>
            <a:r>
              <a:rPr lang="en-CA" dirty="0">
                <a:solidFill>
                  <a:schemeClr val="bg1"/>
                </a:solidFill>
              </a:rPr>
              <a:t>The Bronze layer acts as a landing zone for raw data, preserving source data as-is with no transformations.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4.2 Key Characteristics</a:t>
            </a:r>
          </a:p>
          <a:p>
            <a:r>
              <a:rPr lang="en-CA" dirty="0">
                <a:solidFill>
                  <a:schemeClr val="bg1"/>
                </a:solidFill>
              </a:rPr>
              <a:t>Attribute	Description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Technology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SQL Server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Object Type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Tables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State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Raw, unvalidated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Load Mechanism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Stored Procedures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Processing Type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Batch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Load Strategy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Full Load, Truncate &amp; Insert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Transformations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None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Model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None (source-aligned)</a:t>
            </a:r>
          </a:p>
          <a:p>
            <a:r>
              <a:rPr lang="en-CA" dirty="0">
                <a:solidFill>
                  <a:schemeClr val="bg1"/>
                </a:solidFill>
              </a:rPr>
              <a:t>4.3 Responsibilities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Ingest data from CRM, ERP, and CSV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Retain original structure and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Enable data replay and auditing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Act as a system of record for ingested data</a:t>
            </a:r>
          </a:p>
        </p:txBody>
      </p:sp>
    </p:spTree>
    <p:extLst>
      <p:ext uri="{BB962C8B-B14F-4D97-AF65-F5344CB8AC3E}">
        <p14:creationId xmlns:p14="http://schemas.microsoft.com/office/powerpoint/2010/main" val="404788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9C3B2A-812B-CD98-C1BB-1BA7B0D6F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F7A28-1BE4-4AB6-5554-B54C2D957040}"/>
              </a:ext>
            </a:extLst>
          </p:cNvPr>
          <p:cNvSpPr txBox="1"/>
          <p:nvPr/>
        </p:nvSpPr>
        <p:spPr>
          <a:xfrm>
            <a:off x="363423" y="237895"/>
            <a:ext cx="11248845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5. Silver Layer – Cleaned &amp; Standardized Data</a:t>
            </a:r>
          </a:p>
          <a:p>
            <a:r>
              <a:rPr lang="en-CA" b="1" dirty="0">
                <a:solidFill>
                  <a:schemeClr val="bg1"/>
                </a:solidFill>
              </a:rPr>
              <a:t>5.1 Purpose</a:t>
            </a:r>
          </a:p>
          <a:p>
            <a:r>
              <a:rPr lang="en-CA" dirty="0">
                <a:solidFill>
                  <a:schemeClr val="bg1"/>
                </a:solidFill>
              </a:rPr>
              <a:t>The Silver layer provides clean, standardized, and enriched data, ready for analytical modeling.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5.2 Key Characteristics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Attribute	Description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Technology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SQL Server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Object Type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Tables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State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Cleaned &amp; standardized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Load Mechanism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Stored Procedures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Processing Type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Batch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Load Strategy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Full Load, Truncate &amp; Insert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Model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None (still table-based)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5.3 Transformations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Data cleansing (null handling, deduplication)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Data standardization (formats, units, codes)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Data 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Derived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Data enrichment (lookups, reference data)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8DA96-8290-EA4E-52D0-2C68AA7DA1E4}"/>
              </a:ext>
            </a:extLst>
          </p:cNvPr>
          <p:cNvSpPr txBox="1"/>
          <p:nvPr/>
        </p:nvSpPr>
        <p:spPr>
          <a:xfrm>
            <a:off x="6362124" y="4232134"/>
            <a:ext cx="49626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5.4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Improve data quality and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Apply common business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Prepare data for analytical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Serve as a trusted intermediate layer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10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24B0-E27A-21C9-84B3-5ABAB55F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38654-D711-E32E-34C5-811ACDBF1FAE}"/>
              </a:ext>
            </a:extLst>
          </p:cNvPr>
          <p:cNvSpPr txBox="1"/>
          <p:nvPr/>
        </p:nvSpPr>
        <p:spPr>
          <a:xfrm>
            <a:off x="312516" y="343225"/>
            <a:ext cx="9140587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6. Gold Layer – Business-Ready Data</a:t>
            </a:r>
          </a:p>
          <a:p>
            <a:r>
              <a:rPr lang="en-CA" b="1" dirty="0">
                <a:solidFill>
                  <a:schemeClr val="bg1"/>
                </a:solidFill>
              </a:rPr>
              <a:t>6.1 Purpose</a:t>
            </a:r>
          </a:p>
          <a:p>
            <a:r>
              <a:rPr lang="en-CA" dirty="0">
                <a:solidFill>
                  <a:schemeClr val="bg1"/>
                </a:solidFill>
              </a:rPr>
              <a:t>The Gold layer delivers analytics-optimized datasets for consumption by BI tools, ad-hoc users, and ML workloads.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6.2 Key Characteristics</a:t>
            </a:r>
          </a:p>
          <a:p>
            <a:r>
              <a:rPr lang="en-CA" dirty="0">
                <a:solidFill>
                  <a:schemeClr val="bg1"/>
                </a:solidFill>
              </a:rPr>
              <a:t>Attribute	Description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Technology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SQL Server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Object Type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Views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State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Business-ready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Load	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No physical load (view-based)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CA" dirty="0">
                <a:solidFill>
                  <a:schemeClr val="bg1"/>
                </a:solidFill>
              </a:rPr>
              <a:t>Data Model	</a:t>
            </a:r>
            <a:r>
              <a:rPr lang="en-CA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chemeClr val="bg1"/>
                </a:solidFill>
              </a:rPr>
              <a:t>Star Schema, Flat Tables, Aggregates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6.3 Transformations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Data integration across domains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Business logic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Aggregations and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KPI and metric definitions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756EC-98BB-567C-56AD-04D79BC07BD5}"/>
              </a:ext>
            </a:extLst>
          </p:cNvPr>
          <p:cNvSpPr txBox="1"/>
          <p:nvPr/>
        </p:nvSpPr>
        <p:spPr>
          <a:xfrm>
            <a:off x="4690641" y="4098099"/>
            <a:ext cx="4904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6.4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Provide a semantic layer for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Ensure consistent business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Optimize performance for reporting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Minimize duplication of business logic</a:t>
            </a:r>
          </a:p>
        </p:txBody>
      </p:sp>
    </p:spTree>
    <p:extLst>
      <p:ext uri="{BB962C8B-B14F-4D97-AF65-F5344CB8AC3E}">
        <p14:creationId xmlns:p14="http://schemas.microsoft.com/office/powerpoint/2010/main" val="64675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E29EC-1A7D-E92F-8665-AAC72AF2F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9FCE60-945E-2B6E-5FE4-2881157B3A06}"/>
              </a:ext>
            </a:extLst>
          </p:cNvPr>
          <p:cNvSpPr txBox="1"/>
          <p:nvPr/>
        </p:nvSpPr>
        <p:spPr>
          <a:xfrm>
            <a:off x="401985" y="380620"/>
            <a:ext cx="6093724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7. Data Consumption Layer</a:t>
            </a:r>
          </a:p>
          <a:p>
            <a:endParaRPr lang="en-CA" sz="2800" b="1" dirty="0">
              <a:solidFill>
                <a:schemeClr val="bg1"/>
              </a:solidFill>
            </a:endParaRPr>
          </a:p>
          <a:p>
            <a:r>
              <a:rPr lang="en-CA" sz="2000" b="1" dirty="0">
                <a:solidFill>
                  <a:schemeClr val="bg1"/>
                </a:solidFill>
              </a:rPr>
              <a:t>7.1 Consumers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BI &amp; Reporting Tools (e.g., Power BI, Tableau)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Ad-hoc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Machine Learning Models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sz="2000" b="1" dirty="0">
                <a:solidFill>
                  <a:schemeClr val="bg1"/>
                </a:solidFill>
              </a:rPr>
              <a:t>7.2 Access Pattern</a:t>
            </a:r>
          </a:p>
          <a:p>
            <a:r>
              <a:rPr lang="en-CA" dirty="0">
                <a:solidFill>
                  <a:schemeClr val="bg1"/>
                </a:solidFill>
              </a:rPr>
              <a:t>		</a:t>
            </a:r>
          </a:p>
          <a:p>
            <a:r>
              <a:rPr lang="en-CA" dirty="0">
                <a:solidFill>
                  <a:schemeClr val="bg1"/>
                </a:solidFill>
              </a:rPr>
              <a:t>	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335BCD-21BA-CC68-B7A0-EBCAC8BA0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010461"/>
              </p:ext>
            </p:extLst>
          </p:nvPr>
        </p:nvGraphicFramePr>
        <p:xfrm>
          <a:off x="401985" y="3264311"/>
          <a:ext cx="5025421" cy="153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542">
                  <a:extLst>
                    <a:ext uri="{9D8B030D-6E8A-4147-A177-3AD203B41FA5}">
                      <a16:colId xmlns:a16="http://schemas.microsoft.com/office/drawing/2014/main" val="562597621"/>
                    </a:ext>
                  </a:extLst>
                </a:gridCol>
                <a:gridCol w="2868879">
                  <a:extLst>
                    <a:ext uri="{9D8B030D-6E8A-4147-A177-3AD203B41FA5}">
                      <a16:colId xmlns:a16="http://schemas.microsoft.com/office/drawing/2014/main" val="346468222"/>
                    </a:ext>
                  </a:extLst>
                </a:gridCol>
              </a:tblGrid>
              <a:tr h="333422"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Consumer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>
                          <a:solidFill>
                            <a:schemeClr val="bg1"/>
                          </a:solidFill>
                        </a:rPr>
                        <a:t>Access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BI Tools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Gold Layer Views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50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Analysts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SQL Queries on Gold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33866"/>
                  </a:ext>
                </a:extLst>
              </a:tr>
              <a:tr h="4263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ML Pipelines	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Curated Gold datasets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0495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96EE39-0829-343F-85A0-F8984D5772FA}"/>
              </a:ext>
            </a:extLst>
          </p:cNvPr>
          <p:cNvSpPr txBox="1"/>
          <p:nvPr/>
        </p:nvSpPr>
        <p:spPr>
          <a:xfrm>
            <a:off x="5869858" y="380620"/>
            <a:ext cx="557489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8. Data Flow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Source systems deliver data (files, extracts)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Bronze layer ingests raw data with no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Silver layer cleanses and standardizes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Gold layer exposes business-ready 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Consumers query Gold layer for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D50AA-DECF-B5C9-4F36-B925FCB912A1}"/>
              </a:ext>
            </a:extLst>
          </p:cNvPr>
          <p:cNvSpPr txBox="1"/>
          <p:nvPr/>
        </p:nvSpPr>
        <p:spPr>
          <a:xfrm>
            <a:off x="5869858" y="2527575"/>
            <a:ext cx="643143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9. Non-Functional Considerations</a:t>
            </a:r>
          </a:p>
          <a:p>
            <a:r>
              <a:rPr lang="en-CA" b="1" dirty="0">
                <a:solidFill>
                  <a:schemeClr val="bg1"/>
                </a:solidFill>
              </a:rPr>
              <a:t>9.1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Batch-based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Pre-aggregated Gold views for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Indexing on Silver and Gold objects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9.2 Data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Validation rules implemented in Silver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Auditability via Bronze retention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b="1" dirty="0">
                <a:solidFill>
                  <a:schemeClr val="bg1"/>
                </a:solidFill>
              </a:rPr>
              <a:t>9.3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Layered design allows independent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New sources can be added without impacting consumers</a:t>
            </a:r>
          </a:p>
        </p:txBody>
      </p:sp>
    </p:spTree>
    <p:extLst>
      <p:ext uri="{BB962C8B-B14F-4D97-AF65-F5344CB8AC3E}">
        <p14:creationId xmlns:p14="http://schemas.microsoft.com/office/powerpoint/2010/main" val="2951307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9F6EA-2590-A630-5D6D-2DD76DAA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4CDBBE-AD58-0B66-6B5B-85A1938E9108}"/>
              </a:ext>
            </a:extLst>
          </p:cNvPr>
          <p:cNvSpPr txBox="1"/>
          <p:nvPr/>
        </p:nvSpPr>
        <p:spPr>
          <a:xfrm>
            <a:off x="255639" y="289679"/>
            <a:ext cx="565354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>
                <a:solidFill>
                  <a:schemeClr val="bg1"/>
                </a:solidFill>
              </a:rPr>
              <a:t>10. Benefits of This Architecture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Clear separation of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Easier debugging and data lineage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Consistent business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Faster analytics and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bg1"/>
                </a:solidFill>
              </a:rPr>
              <a:t>Scalable and maintainable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D5426-CD12-2DFF-2531-AA2C72BB20DE}"/>
              </a:ext>
            </a:extLst>
          </p:cNvPr>
          <p:cNvSpPr txBox="1"/>
          <p:nvPr/>
        </p:nvSpPr>
        <p:spPr>
          <a:xfrm>
            <a:off x="6292645" y="5534561"/>
            <a:ext cx="68432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000" b="1" dirty="0">
                <a:solidFill>
                  <a:schemeClr val="bg1"/>
                </a:solidFill>
              </a:rPr>
              <a:t>THANK YOU</a:t>
            </a:r>
            <a:endParaRPr lang="en-CA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947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</TotalTime>
  <Words>706</Words>
  <Application>Microsoft Office PowerPoint</Application>
  <PresentationFormat>Widescreen</PresentationFormat>
  <Paragraphs>164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Mushtaq Ahmed</dc:creator>
  <cp:lastModifiedBy>Mushtaq Ahmed</cp:lastModifiedBy>
  <cp:revision>2</cp:revision>
  <dcterms:created xsi:type="dcterms:W3CDTF">2026-01-02T18:31:50Z</dcterms:created>
  <dcterms:modified xsi:type="dcterms:W3CDTF">2026-01-02T23:18:27Z</dcterms:modified>
</cp:coreProperties>
</file>